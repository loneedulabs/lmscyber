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7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CAB2"/>
    <a:srgbClr val="97911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0" d="100"/>
          <a:sy n="60" d="100"/>
        </p:scale>
        <p:origin x="78" y="14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39" y="1033272"/>
            <a:ext cx="5892073" cy="389534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40" y="5733288"/>
            <a:ext cx="5892071" cy="79552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F08B46D-341A-2502-FE91-2C5EF7710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931152" y="793817"/>
            <a:ext cx="5260848" cy="6064181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38587" y="207982"/>
            <a:ext cx="2662798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F2C2C7B-6B47-4A5B-B24C-B316964ABE62}"/>
              </a:ext>
            </a:extLst>
          </p:cNvPr>
          <p:cNvCxnSpPr>
            <a:cxnSpLocks/>
          </p:cNvCxnSpPr>
          <p:nvPr/>
        </p:nvCxnSpPr>
        <p:spPr>
          <a:xfrm flipV="1">
            <a:off x="6929823" y="789558"/>
            <a:ext cx="0" cy="6068442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F32355F-80FD-3956-F8D4-9DF4073D0E2E}"/>
              </a:ext>
            </a:extLst>
          </p:cNvPr>
          <p:cNvCxnSpPr>
            <a:cxnSpLocks/>
          </p:cNvCxnSpPr>
          <p:nvPr/>
        </p:nvCxnSpPr>
        <p:spPr>
          <a:xfrm>
            <a:off x="0" y="5420250"/>
            <a:ext cx="6929823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D4DD8B2-0D73-EB9B-9708-67DF28E40F96}"/>
              </a:ext>
            </a:extLst>
          </p:cNvPr>
          <p:cNvCxnSpPr>
            <a:cxnSpLocks/>
          </p:cNvCxnSpPr>
          <p:nvPr/>
        </p:nvCxnSpPr>
        <p:spPr>
          <a:xfrm>
            <a:off x="0" y="791907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74834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612648"/>
            <a:ext cx="11253668" cy="1106424"/>
          </a:xfrm>
        </p:spPr>
        <p:txBody>
          <a:bodyPr/>
          <a:lstStyle>
            <a:lvl1pPr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559" y="2139696"/>
            <a:ext cx="11253668" cy="42885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D457B6E-DC25-9A54-64F7-98703149B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49DF708-DA4E-D117-5CE8-7401A836F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1AE2728-8254-BE0F-89AB-2D5352D66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93DFD8D-B66E-C844-B523-E3C51265F5EA}"/>
              </a:ext>
            </a:extLst>
          </p:cNvPr>
          <p:cNvCxnSpPr>
            <a:cxnSpLocks/>
          </p:cNvCxnSpPr>
          <p:nvPr/>
        </p:nvCxnSpPr>
        <p:spPr>
          <a:xfrm>
            <a:off x="0" y="180556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46869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5223554"/>
            <a:ext cx="11430000" cy="9144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39" y="6083090"/>
            <a:ext cx="11429999" cy="56692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F08B46D-341A-2502-FE91-2C5EF7710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50694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ABE8472-319C-7663-7B71-2A6549DED7EF}"/>
              </a:ext>
            </a:extLst>
          </p:cNvPr>
          <p:cNvCxnSpPr>
            <a:cxnSpLocks/>
          </p:cNvCxnSpPr>
          <p:nvPr/>
        </p:nvCxnSpPr>
        <p:spPr>
          <a:xfrm>
            <a:off x="0" y="5068350"/>
            <a:ext cx="12188952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03862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758952"/>
            <a:ext cx="7589520" cy="408736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9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39" y="5404104"/>
            <a:ext cx="11515277" cy="57607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6254496"/>
            <a:ext cx="2963692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21742" y="6254496"/>
            <a:ext cx="1679642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54496"/>
            <a:ext cx="546447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05C310B-ED34-BA33-630C-F8D5EB2A41A2}"/>
              </a:ext>
            </a:extLst>
          </p:cNvPr>
          <p:cNvCxnSpPr>
            <a:cxnSpLocks/>
          </p:cNvCxnSpPr>
          <p:nvPr/>
        </p:nvCxnSpPr>
        <p:spPr>
          <a:xfrm>
            <a:off x="0" y="6057900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6B77E3C-9D50-9277-C646-D9B5AB8122BB}"/>
              </a:ext>
            </a:extLst>
          </p:cNvPr>
          <p:cNvCxnSpPr>
            <a:cxnSpLocks/>
          </p:cNvCxnSpPr>
          <p:nvPr/>
        </p:nvCxnSpPr>
        <p:spPr>
          <a:xfrm>
            <a:off x="0" y="527477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79737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>
      <p:bgPr>
        <a:solidFill>
          <a:srgbClr val="C835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77CE2-4402-942B-FD26-6E29BDAB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" y="1435608"/>
            <a:ext cx="11594592" cy="5559552"/>
          </a:xfrm>
        </p:spPr>
        <p:txBody>
          <a:bodyPr anchor="b">
            <a:normAutofit/>
          </a:bodyPr>
          <a:lstStyle>
            <a:lvl1pPr>
              <a:lnSpc>
                <a:spcPct val="67000"/>
              </a:lnSpc>
              <a:defRPr sz="14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C3F3D2-CADD-A94F-6739-CCCDA6C6F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C541E-3AF5-9564-CE04-E4B86459D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772A7-7F28-0EB0-D243-BCC6917DA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716D65-B11C-E9B7-66BF-88E72C5DCEBA}"/>
              </a:ext>
            </a:extLst>
          </p:cNvPr>
          <p:cNvCxnSpPr>
            <a:cxnSpLocks/>
          </p:cNvCxnSpPr>
          <p:nvPr/>
        </p:nvCxnSpPr>
        <p:spPr>
          <a:xfrm>
            <a:off x="0" y="783822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22145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7" y="886968"/>
            <a:ext cx="11405277" cy="1170432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599C6D-D164-AA94-72F8-241C18719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4881" y="2832652"/>
            <a:ext cx="6893719" cy="3508951"/>
          </a:xfrm>
        </p:spPr>
        <p:txBody>
          <a:bodyPr anchor="t"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800100" indent="-342900">
              <a:buFont typeface="+mj-lt"/>
              <a:buAutoNum type="arabicPeriod"/>
              <a:defRPr sz="1800"/>
            </a:lvl2pPr>
            <a:lvl3pPr marL="1257300" indent="-342900">
              <a:buFont typeface="+mj-lt"/>
              <a:buAutoNum type="arabicPeriod"/>
              <a:defRPr sz="1600"/>
            </a:lvl3pPr>
            <a:lvl4pPr marL="1714500" indent="-342900">
              <a:buFont typeface="+mj-lt"/>
              <a:buAutoNum type="arabicPeriod"/>
              <a:defRPr sz="1400"/>
            </a:lvl4pPr>
            <a:lvl5pPr marL="21717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B50CAA-07B2-F8CA-1425-4249CE17A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DEAD866-E26E-BF23-7B5D-9F689B2FA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8AC7CAE-FC19-2728-AA3B-1D2FE7879B25}"/>
              </a:ext>
            </a:extLst>
          </p:cNvPr>
          <p:cNvCxnSpPr>
            <a:cxnSpLocks/>
          </p:cNvCxnSpPr>
          <p:nvPr/>
        </p:nvCxnSpPr>
        <p:spPr>
          <a:xfrm>
            <a:off x="0" y="2118492"/>
            <a:ext cx="121920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11B3592-91FB-05F4-B422-A40D7CD4DE2D}"/>
              </a:ext>
            </a:extLst>
          </p:cNvPr>
          <p:cNvCxnSpPr>
            <a:cxnSpLocks/>
          </p:cNvCxnSpPr>
          <p:nvPr/>
        </p:nvCxnSpPr>
        <p:spPr>
          <a:xfrm>
            <a:off x="0" y="800100"/>
            <a:ext cx="121920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03514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6944" y="521208"/>
            <a:ext cx="6647688" cy="1865376"/>
          </a:xfrm>
        </p:spPr>
        <p:txBody>
          <a:bodyPr>
            <a:normAutofit/>
          </a:bodyPr>
          <a:lstStyle>
            <a:lvl1pPr>
              <a:defRPr sz="8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D3A4126-4E48-DD2C-1468-6A36AE6C1D1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917320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6943" y="2651760"/>
            <a:ext cx="6327648" cy="3547872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800100" indent="-342900">
              <a:buFont typeface="+mj-lt"/>
              <a:buAutoNum type="arabicPeriod"/>
              <a:defRPr sz="1800"/>
            </a:lvl2pPr>
            <a:lvl3pPr marL="1257300" indent="-342900">
              <a:buFont typeface="+mj-lt"/>
              <a:buAutoNum type="arabicPeriod"/>
              <a:defRPr sz="1600"/>
            </a:lvl3pPr>
            <a:lvl4pPr marL="1714500" indent="-342900">
              <a:buFont typeface="+mj-lt"/>
              <a:buAutoNum type="arabicPeriod"/>
              <a:defRPr sz="1400"/>
            </a:lvl4pPr>
            <a:lvl5pPr marL="21717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1899" y="210312"/>
            <a:ext cx="2962656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73511" y="210312"/>
            <a:ext cx="1679642" cy="41148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7633BE4-C9B9-310C-1EAE-191B5D344B59}"/>
              </a:ext>
            </a:extLst>
          </p:cNvPr>
          <p:cNvCxnSpPr>
            <a:cxnSpLocks/>
          </p:cNvCxnSpPr>
          <p:nvPr/>
        </p:nvCxnSpPr>
        <p:spPr>
          <a:xfrm>
            <a:off x="4923916" y="2452449"/>
            <a:ext cx="7268084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A010762-96A4-4E1C-CD5D-EE1C1D1FC6E2}"/>
              </a:ext>
            </a:extLst>
          </p:cNvPr>
          <p:cNvCxnSpPr>
            <a:cxnSpLocks/>
          </p:cNvCxnSpPr>
          <p:nvPr/>
        </p:nvCxnSpPr>
        <p:spPr>
          <a:xfrm flipV="1">
            <a:off x="4923916" y="0"/>
            <a:ext cx="0" cy="685800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22054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191" y="2077374"/>
            <a:ext cx="4479107" cy="269141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66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7DEB5EF-910B-9B2B-CB95-1AD374FEC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1577" y="2210542"/>
            <a:ext cx="5869293" cy="2432477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5FD4BD0F-0EF0-D5B9-5485-1ECB765DC5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51577" y="207982"/>
            <a:ext cx="1921315" cy="4133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566B317-2D55-4797-E621-551FCA482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8C01F2-A815-18C2-F49B-D8E165722653}"/>
              </a:ext>
            </a:extLst>
          </p:cNvPr>
          <p:cNvCxnSpPr>
            <a:cxnSpLocks/>
          </p:cNvCxnSpPr>
          <p:nvPr/>
        </p:nvCxnSpPr>
        <p:spPr>
          <a:xfrm>
            <a:off x="5311938" y="1550633"/>
            <a:ext cx="0" cy="3756734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790D5D6-313A-8ACD-591F-F8BEC510B947}"/>
              </a:ext>
            </a:extLst>
          </p:cNvPr>
          <p:cNvCxnSpPr>
            <a:cxnSpLocks/>
          </p:cNvCxnSpPr>
          <p:nvPr/>
        </p:nvCxnSpPr>
        <p:spPr>
          <a:xfrm>
            <a:off x="0" y="5308844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F6F1415-3933-6D89-472D-2FA4BBB279E7}"/>
              </a:ext>
            </a:extLst>
          </p:cNvPr>
          <p:cNvCxnSpPr>
            <a:cxnSpLocks/>
          </p:cNvCxnSpPr>
          <p:nvPr/>
        </p:nvCxnSpPr>
        <p:spPr>
          <a:xfrm>
            <a:off x="0" y="155063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54091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192" y="1249959"/>
            <a:ext cx="4085912" cy="512567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6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A5B8121-E925-2131-A76A-FBDAB0BC9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8384" y="1249959"/>
            <a:ext cx="6440424" cy="52387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BA5BEFD-7245-BB4D-0F86-F1C3A32E06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63852" y="207982"/>
            <a:ext cx="1921315" cy="4133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5879897-4AF6-4B38-AB30-8DD979DC5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8C01F2-A815-18C2-F49B-D8E165722653}"/>
              </a:ext>
            </a:extLst>
          </p:cNvPr>
          <p:cNvCxnSpPr>
            <a:cxnSpLocks/>
          </p:cNvCxnSpPr>
          <p:nvPr/>
        </p:nvCxnSpPr>
        <p:spPr>
          <a:xfrm>
            <a:off x="4918746" y="805343"/>
            <a:ext cx="0" cy="6052657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36662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0876" y="749808"/>
            <a:ext cx="6442024" cy="20391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910328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0875" y="213482"/>
            <a:ext cx="2962656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09227" y="210312"/>
            <a:ext cx="1679642" cy="41148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0875" y="2944368"/>
            <a:ext cx="6442025" cy="35716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910328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95650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0308" y="612648"/>
            <a:ext cx="7022592" cy="103327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342584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D81791C-036D-058C-0055-96793694D65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750307" y="210312"/>
            <a:ext cx="3531437" cy="4133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A8DE5B-9C41-DE5B-BF91-98510120DCF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582299" y="210312"/>
            <a:ext cx="1679642" cy="4133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E0FD979-F905-C567-8E21-A3EDCE17980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0307" y="1746503"/>
            <a:ext cx="7022592" cy="48066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345760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8545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612648"/>
            <a:ext cx="7015483" cy="103327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B59EF2B-7C7F-BA27-16C2-C56B21D3774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2A99D216-CE5A-6458-A23E-BE0E554AC3D1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224951" y="207982"/>
            <a:ext cx="1682496" cy="4133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3220FA64-3C9A-EBCF-5C28-E7DED40C97D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789594" y="207982"/>
            <a:ext cx="546447" cy="4133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1746504"/>
            <a:ext cx="7018271" cy="48066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773592" y="0"/>
            <a:ext cx="4417215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7768833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02151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73" y="749808"/>
            <a:ext cx="5778227" cy="103327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69163" y="210312"/>
            <a:ext cx="1679642" cy="41148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14093" y="210312"/>
            <a:ext cx="546447" cy="4133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1993391"/>
            <a:ext cx="5778227" cy="45598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575416" y="0"/>
            <a:ext cx="5616584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F4034EB-F498-D527-195A-D17B85027774}"/>
              </a:ext>
            </a:extLst>
          </p:cNvPr>
          <p:cNvCxnSpPr>
            <a:cxnSpLocks/>
          </p:cNvCxnSpPr>
          <p:nvPr/>
        </p:nvCxnSpPr>
        <p:spPr>
          <a:xfrm>
            <a:off x="6570629" y="0"/>
            <a:ext cx="0" cy="6857999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6674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749808"/>
            <a:ext cx="4123680" cy="151790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210312"/>
            <a:ext cx="2260057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9329" y="210312"/>
            <a:ext cx="1058111" cy="41148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10197" y="210312"/>
            <a:ext cx="440969" cy="4133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704" y="2578609"/>
            <a:ext cx="4130606" cy="37124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912658" y="0"/>
            <a:ext cx="7279341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907963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63774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749808"/>
            <a:ext cx="11514755" cy="96012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8890DBE-0DD3-8504-F95F-4225535FB1B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4BB28A-95D9-4CE6-DA59-520BA3C61CD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1FA0A0C-CE55-CB7D-174D-D77937630A9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2180556"/>
            <a:ext cx="5012355" cy="42842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822674" y="1834524"/>
            <a:ext cx="6378722" cy="502347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C753443-12E2-4CD3-2C6F-4E20536BA82B}"/>
              </a:ext>
            </a:extLst>
          </p:cNvPr>
          <p:cNvCxnSpPr>
            <a:cxnSpLocks/>
          </p:cNvCxnSpPr>
          <p:nvPr/>
        </p:nvCxnSpPr>
        <p:spPr>
          <a:xfrm>
            <a:off x="5816454" y="1827254"/>
            <a:ext cx="0" cy="504063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9B4AF9B-8CF3-D7A8-CDB9-8E513FFF57EC}"/>
              </a:ext>
            </a:extLst>
          </p:cNvPr>
          <p:cNvCxnSpPr>
            <a:cxnSpLocks/>
          </p:cNvCxnSpPr>
          <p:nvPr/>
        </p:nvCxnSpPr>
        <p:spPr>
          <a:xfrm>
            <a:off x="0" y="1827254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01601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5166364"/>
            <a:ext cx="3656530" cy="122342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8096" cy="483717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9121" y="5166364"/>
            <a:ext cx="7073776" cy="1223420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6437376"/>
            <a:ext cx="2962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99121" y="6437193"/>
            <a:ext cx="454941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437376"/>
            <a:ext cx="546447" cy="4133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DF9F6E2-159F-CDF3-F2D3-AB7A7E505C0B}"/>
              </a:ext>
            </a:extLst>
          </p:cNvPr>
          <p:cNvCxnSpPr>
            <a:cxnSpLocks/>
          </p:cNvCxnSpPr>
          <p:nvPr/>
        </p:nvCxnSpPr>
        <p:spPr>
          <a:xfrm>
            <a:off x="4283425" y="4837176"/>
            <a:ext cx="0" cy="2020824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D4F9120-94C1-CA43-BF4E-9411F4866A20}"/>
              </a:ext>
            </a:extLst>
          </p:cNvPr>
          <p:cNvCxnSpPr>
            <a:cxnSpLocks/>
          </p:cNvCxnSpPr>
          <p:nvPr/>
        </p:nvCxnSpPr>
        <p:spPr>
          <a:xfrm>
            <a:off x="-1250" y="4842106"/>
            <a:ext cx="1219325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70748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762002"/>
            <a:ext cx="6612786" cy="1555895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A2AC736-2858-40E1-3533-38692573EC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F901C69-26AA-7830-9BFF-EC62E8208AB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83EC4C7-2AFC-9797-0F80-FCBABD2A856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6627" y="2435966"/>
            <a:ext cx="7283725" cy="4422032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068" y="762000"/>
            <a:ext cx="4092813" cy="579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8F70BF-1865-3761-955D-0621AA22B818}"/>
              </a:ext>
            </a:extLst>
          </p:cNvPr>
          <p:cNvCxnSpPr>
            <a:cxnSpLocks/>
          </p:cNvCxnSpPr>
          <p:nvPr/>
        </p:nvCxnSpPr>
        <p:spPr>
          <a:xfrm>
            <a:off x="0" y="2435966"/>
            <a:ext cx="72771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638DF4A-7DDF-7C24-D39A-EA7EAF7CFE63}"/>
              </a:ext>
            </a:extLst>
          </p:cNvPr>
          <p:cNvCxnSpPr>
            <a:cxnSpLocks/>
          </p:cNvCxnSpPr>
          <p:nvPr/>
        </p:nvCxnSpPr>
        <p:spPr>
          <a:xfrm>
            <a:off x="7277100" y="0"/>
            <a:ext cx="0" cy="6857999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10928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448056"/>
            <a:ext cx="11514759" cy="1124712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3482"/>
            <a:ext cx="2962656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07982"/>
            <a:ext cx="546447" cy="41148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3614" y="1700784"/>
            <a:ext cx="3318170" cy="515721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1441" y="2130553"/>
            <a:ext cx="7971459" cy="4422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C347961-3E7C-FAAC-2283-DA751A80201C}"/>
              </a:ext>
            </a:extLst>
          </p:cNvPr>
          <p:cNvCxnSpPr>
            <a:cxnSpLocks/>
          </p:cNvCxnSpPr>
          <p:nvPr/>
        </p:nvCxnSpPr>
        <p:spPr>
          <a:xfrm>
            <a:off x="0" y="1695518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E4B3C03-E31F-77F7-02F0-8C25E1C62792}"/>
              </a:ext>
            </a:extLst>
          </p:cNvPr>
          <p:cNvCxnSpPr>
            <a:cxnSpLocks/>
          </p:cNvCxnSpPr>
          <p:nvPr/>
        </p:nvCxnSpPr>
        <p:spPr>
          <a:xfrm>
            <a:off x="3318170" y="1695518"/>
            <a:ext cx="0" cy="5162482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128018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umber Large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1232" y="1188720"/>
            <a:ext cx="4069080" cy="4480560"/>
          </a:xfrm>
        </p:spPr>
        <p:txBody>
          <a:bodyPr anchor="ctr">
            <a:normAutofit/>
          </a:bodyPr>
          <a:lstStyle>
            <a:lvl1pPr>
              <a:lnSpc>
                <a:spcPct val="110000"/>
              </a:lnSpc>
              <a:defRPr sz="2800" cap="none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8056" y="1609344"/>
            <a:ext cx="6775704" cy="415137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 algn="r">
              <a:lnSpc>
                <a:spcPct val="70000"/>
              </a:lnSpc>
              <a:buNone/>
              <a:defRPr lang="en-US" sz="33400" dirty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2pPr>
            <a:lvl3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3pPr>
            <a:lvl4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4pPr>
            <a:lvl5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5pPr>
          </a:lstStyle>
          <a:p>
            <a:pPr lvl="0"/>
            <a:r>
              <a:rPr lang="en-US" dirty="0"/>
              <a:t>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10312"/>
            <a:ext cx="546447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34144DB-F44E-C5EB-68A1-D39E3F401C4E}"/>
              </a:ext>
            </a:extLst>
          </p:cNvPr>
          <p:cNvCxnSpPr>
            <a:cxnSpLocks/>
          </p:cNvCxnSpPr>
          <p:nvPr/>
        </p:nvCxnSpPr>
        <p:spPr>
          <a:xfrm>
            <a:off x="0" y="6069441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40998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17773" y="914400"/>
            <a:ext cx="10045427" cy="4464554"/>
          </a:xfrm>
        </p:spPr>
        <p:txBody>
          <a:bodyPr anchor="ctr">
            <a:noAutofit/>
          </a:bodyPr>
          <a:lstStyle>
            <a:lvl1pPr marL="0" indent="0">
              <a:lnSpc>
                <a:spcPct val="75000"/>
              </a:lnSpc>
              <a:buNone/>
              <a:defRPr sz="8800" b="0">
                <a:solidFill>
                  <a:schemeClr val="tx2"/>
                </a:solidFill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8000" b="0">
                <a:solidFill>
                  <a:schemeClr val="tx2"/>
                </a:solidFill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7200" b="0">
                <a:solidFill>
                  <a:schemeClr val="tx2"/>
                </a:solidFill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6600" b="0">
                <a:solidFill>
                  <a:schemeClr val="tx2"/>
                </a:solidFill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6000" b="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6263640"/>
            <a:ext cx="2963692" cy="41336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80069" y="6263640"/>
            <a:ext cx="1921315" cy="4133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63640"/>
            <a:ext cx="546447" cy="4133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A935D4C-A027-60A0-BEB8-B1A89C1C5E3A}"/>
              </a:ext>
            </a:extLst>
          </p:cNvPr>
          <p:cNvCxnSpPr>
            <a:cxnSpLocks/>
          </p:cNvCxnSpPr>
          <p:nvPr/>
        </p:nvCxnSpPr>
        <p:spPr>
          <a:xfrm>
            <a:off x="0" y="6057900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6907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Quo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3232" y="5440220"/>
            <a:ext cx="9299448" cy="1015996"/>
          </a:xfrm>
        </p:spPr>
        <p:txBody>
          <a:bodyPr anchor="ctr">
            <a:normAutofit/>
          </a:bodyPr>
          <a:lstStyle>
            <a:lvl1pPr>
              <a:defRPr sz="2000" cap="none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20040" y="1170816"/>
            <a:ext cx="9692640" cy="3872159"/>
          </a:xfrm>
        </p:spPr>
        <p:txBody>
          <a:bodyPr>
            <a:normAutofit/>
          </a:bodyPr>
          <a:lstStyle>
            <a:lvl1pPr marL="274320" indent="-274320">
              <a:lnSpc>
                <a:spcPct val="70000"/>
              </a:lnSpc>
              <a:buNone/>
              <a:defRPr sz="8800" cap="all" baseline="0">
                <a:solidFill>
                  <a:schemeClr val="tx2"/>
                </a:solidFill>
                <a:latin typeface="+mj-lt"/>
              </a:defRPr>
            </a:lvl1pPr>
            <a:lvl2pPr marL="274320" indent="-274320">
              <a:lnSpc>
                <a:spcPct val="70000"/>
              </a:lnSpc>
              <a:buNone/>
              <a:defRPr sz="80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2pPr>
            <a:lvl3pPr marL="274320" indent="-274320">
              <a:lnSpc>
                <a:spcPct val="70000"/>
              </a:lnSpc>
              <a:buNone/>
              <a:defRPr sz="72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3pPr>
            <a:lvl4pPr marL="274320" indent="-274320">
              <a:lnSpc>
                <a:spcPct val="70000"/>
              </a:lnSpc>
              <a:buNone/>
              <a:defRPr sz="66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4pPr>
            <a:lvl5pPr marL="274320" indent="-274320">
              <a:lnSpc>
                <a:spcPct val="70000"/>
              </a:lnSpc>
              <a:buNone/>
              <a:defRPr sz="66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2443788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10312"/>
            <a:ext cx="546447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60C7B9-B6D9-6FB6-59EE-D9DB3BC93758}"/>
              </a:ext>
            </a:extLst>
          </p:cNvPr>
          <p:cNvCxnSpPr>
            <a:cxnSpLocks/>
          </p:cNvCxnSpPr>
          <p:nvPr/>
        </p:nvCxnSpPr>
        <p:spPr>
          <a:xfrm flipH="1">
            <a:off x="0" y="787179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15D9130-12F6-DFB8-70EF-9ACBA9FDECB0}"/>
              </a:ext>
            </a:extLst>
          </p:cNvPr>
          <p:cNvCxnSpPr>
            <a:cxnSpLocks/>
          </p:cNvCxnSpPr>
          <p:nvPr/>
        </p:nvCxnSpPr>
        <p:spPr>
          <a:xfrm>
            <a:off x="0" y="5274530"/>
            <a:ext cx="12192000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2415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594AB-EF90-9591-5954-F617B83D1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685800"/>
            <a:ext cx="11253668" cy="66569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6A57BED-3AFE-6AA9-E0D5-586748D61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47C21221-DC95-273B-0C4F-43B35ADA1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E44E859-99AA-D46F-1AD8-4C0F287F3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3231F-0FFC-E2BB-36F8-9816E4DECE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7773" y="1773857"/>
            <a:ext cx="5349240" cy="4453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3CC2C1-ED8C-D52E-BEF5-671EDC6238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4987" y="1773858"/>
            <a:ext cx="5349240" cy="4453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397169B-5226-712F-36F4-352E56B637D4}"/>
              </a:ext>
            </a:extLst>
          </p:cNvPr>
          <p:cNvCxnSpPr>
            <a:cxnSpLocks/>
          </p:cNvCxnSpPr>
          <p:nvPr/>
        </p:nvCxnSpPr>
        <p:spPr>
          <a:xfrm>
            <a:off x="0" y="144282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366902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4958D-8125-1BDA-53C9-9E2D33883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72" y="685800"/>
            <a:ext cx="11256264" cy="6675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294A4A-89C4-68BF-6701-5C47F940E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908BC-F48B-81E4-8D93-7DB9E3716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F93A54-CB38-BEAF-260B-84EDDF301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09FF10-A82A-AAEB-4B8C-921F3BA20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7773" y="1773857"/>
            <a:ext cx="5349064" cy="59014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4D3C6A-509A-8CB1-B220-1CE755BE2F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17773" y="2368476"/>
            <a:ext cx="5349064" cy="38587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627A15-4AB2-F230-22C7-0605AFD7DF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24796" y="1773857"/>
            <a:ext cx="5349240" cy="59014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1ECFD5-92D0-1854-D18E-8BC5DF56A7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24796" y="2368476"/>
            <a:ext cx="5349240" cy="38587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D1AC07E-A077-E2A6-1718-DDDA542A8A98}"/>
              </a:ext>
            </a:extLst>
          </p:cNvPr>
          <p:cNvCxnSpPr>
            <a:cxnSpLocks/>
          </p:cNvCxnSpPr>
          <p:nvPr/>
        </p:nvCxnSpPr>
        <p:spPr>
          <a:xfrm>
            <a:off x="0" y="144282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924815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17042-CDCB-3B2F-8C5B-24B17903E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A4C6AE-702E-258F-EA5E-02906C70D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339AE3-ADB1-728F-9FBA-2FD43A0AC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965F4B-E6CF-D83A-1F1B-81274FD57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21996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E52550-02A6-D7FB-DD57-70C87BAA4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02D272-B561-7F82-06FB-C5DE719AA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EF0FF0-3A36-A128-D75E-71A4B54CB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15337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8A45ECA-9413-0F81-085A-48CF6F23E1DC}"/>
              </a:ext>
            </a:extLst>
          </p:cNvPr>
          <p:cNvCxnSpPr>
            <a:cxnSpLocks/>
          </p:cNvCxnSpPr>
          <p:nvPr/>
        </p:nvCxnSpPr>
        <p:spPr>
          <a:xfrm>
            <a:off x="0" y="2118492"/>
            <a:ext cx="12192000" cy="0"/>
          </a:xfrm>
          <a:prstGeom prst="line">
            <a:avLst/>
          </a:prstGeom>
          <a:ln w="9525">
            <a:solidFill>
              <a:schemeClr val="tx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832104"/>
            <a:ext cx="11253668" cy="1225296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6263640"/>
            <a:ext cx="2962656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1" y="6263640"/>
            <a:ext cx="1933553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63640"/>
            <a:ext cx="546447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557" y="3429001"/>
            <a:ext cx="11253669" cy="277354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89862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60" y="1270390"/>
            <a:ext cx="7929980" cy="2060888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5" y="3794761"/>
            <a:ext cx="7932765" cy="15310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3482"/>
            <a:ext cx="2962656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4D168F9-DE00-B9C1-AD77-139DA8AF3364}"/>
              </a:ext>
            </a:extLst>
          </p:cNvPr>
          <p:cNvCxnSpPr>
            <a:cxnSpLocks/>
          </p:cNvCxnSpPr>
          <p:nvPr/>
        </p:nvCxnSpPr>
        <p:spPr>
          <a:xfrm>
            <a:off x="0" y="3434907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80664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4398EFF-E3C5-E79D-1BD3-016E84949F9C}"/>
              </a:ext>
            </a:extLst>
          </p:cNvPr>
          <p:cNvCxnSpPr>
            <a:cxnSpLocks/>
          </p:cNvCxnSpPr>
          <p:nvPr/>
        </p:nvCxnSpPr>
        <p:spPr>
          <a:xfrm>
            <a:off x="0" y="78956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478947-1D67-18A4-7E48-5B4B2F97F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935798"/>
            <a:ext cx="11253668" cy="6656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FE08CA-9517-ABC1-E915-31EA6D7B7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0559" y="1707581"/>
            <a:ext cx="11253668" cy="48483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3983D-E783-AAEC-26DB-4B3F6511C7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7773" y="207982"/>
            <a:ext cx="2963692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850" b="1" cap="all" spc="100"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454426-0A97-D20B-FD06-9648AED777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80069" y="207982"/>
            <a:ext cx="1921315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850" b="1" cap="all" spc="100" baseline="0"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13386-8E2A-2962-4804-81558038BA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88870" y="207982"/>
            <a:ext cx="546447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850" b="1" cap="all" baseline="0"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143C14-E680-3360-0E4D-DA502AF50E85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9780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Classified as Microsoft Confidential</a:t>
            </a:r>
          </a:p>
        </p:txBody>
      </p:sp>
    </p:spTree>
    <p:extLst>
      <p:ext uri="{BB962C8B-B14F-4D97-AF65-F5344CB8AC3E}">
        <p14:creationId xmlns:p14="http://schemas.microsoft.com/office/powerpoint/2010/main" val="33614713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</p:sldLayoutIdLst>
  <p:txStyles>
    <p:titleStyle>
      <a:lvl1pPr algn="l" defTabSz="914400" rtl="0" eaLnBrk="1" latinLnBrk="0" hangingPunct="1">
        <a:lnSpc>
          <a:spcPct val="70000"/>
        </a:lnSpc>
        <a:spcBef>
          <a:spcPct val="0"/>
        </a:spcBef>
        <a:buNone/>
        <a:defRPr sz="4000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80">
          <p15:clr>
            <a:srgbClr val="F26B43"/>
          </p15:clr>
        </p15:guide>
        <p15:guide id="2" pos="264">
          <p15:clr>
            <a:srgbClr val="F26B43"/>
          </p15:clr>
        </p15:guide>
        <p15:guide id="3" pos="7416">
          <p15:clr>
            <a:srgbClr val="F26B43"/>
          </p15:clr>
        </p15:guide>
        <p15:guide id="4" orient="horz" pos="3816">
          <p15:clr>
            <a:srgbClr val="F26B43"/>
          </p15:clr>
        </p15:guide>
        <p15:guide id="5" pos="7200">
          <p15:clr>
            <a:srgbClr val="F26B43"/>
          </p15:clr>
        </p15:guide>
        <p15:guide id="6" pos="504">
          <p15:clr>
            <a:srgbClr val="F26B43"/>
          </p15:clr>
        </p15:guide>
        <p15:guide id="7" orient="horz" pos="4128">
          <p15:clr>
            <a:srgbClr val="F26B43"/>
          </p15:clr>
        </p15:guide>
        <p15:guide id="8" orient="horz" pos="1056">
          <p15:clr>
            <a:srgbClr val="F26B43"/>
          </p15:clr>
        </p15:guide>
        <p15:guide id="9" pos="45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914400"/>
            <a:ext cx="3748142" cy="16158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600" b="1">
                <a:solidFill>
                  <a:srgbClr val="FFFFFF"/>
                </a:solidFill>
              </a:defRPr>
            </a:pPr>
            <a:r>
              <a:rPr lang="en-US" dirty="0"/>
              <a:t>Computing 11</a:t>
            </a:r>
            <a:endParaRPr dirty="0"/>
          </a:p>
          <a:p>
            <a:pPr>
              <a:defRPr sz="3400" b="1">
                <a:solidFill>
                  <a:srgbClr val="8CB518"/>
                </a:solidFill>
              </a:defRPr>
            </a:pPr>
            <a:r>
              <a:rPr dirty="0"/>
              <a:t>Course Orientation</a:t>
            </a:r>
          </a:p>
          <a:p>
            <a:pPr>
              <a:defRPr sz="1900">
                <a:solidFill>
                  <a:srgbClr val="FFFFFF"/>
                </a:solidFill>
              </a:defRPr>
            </a:pPr>
            <a:r>
              <a:rPr dirty="0"/>
              <a:t>Academic Year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86200"/>
            <a:ext cx="1051358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rPr lang="en-US" sz="3200" dirty="0"/>
              <a:t>Level Up Through Digital Discoveries 11, 1st edition ©2026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6E78"/>
                </a:solidFill>
              </a:defRPr>
            </a:pPr>
            <a:r>
              <a:t>1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795A3ED-AA39-6E0B-57E7-9B68776AD4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2447" y="320842"/>
            <a:ext cx="2652263" cy="324451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563574" cy="53860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B224A"/>
                </a:solidFill>
              </a:defRPr>
            </a:pPr>
            <a:r>
              <a:rPr dirty="0"/>
              <a:t>Getting to Know Your Course 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96E78"/>
                </a:solidFill>
              </a:defRPr>
            </a:pPr>
            <a:r>
              <a:t>Cambridge Lower Secondary Computing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7129" y="1508760"/>
            <a:ext cx="7132320" cy="298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32D"/>
                </a:solidFill>
              </a:defRPr>
            </a:pPr>
            <a:r>
              <a:rPr sz="2800" dirty="0"/>
              <a:t>• The course book is the main learning resource for the year.</a:t>
            </a:r>
          </a:p>
          <a:p>
            <a:pPr>
              <a:spcAft>
                <a:spcPts val="1200"/>
              </a:spcAft>
              <a:defRPr sz="1900">
                <a:solidFill>
                  <a:srgbClr val="23232D"/>
                </a:solidFill>
              </a:defRPr>
            </a:pPr>
            <a:r>
              <a:rPr sz="2800" dirty="0"/>
              <a:t>• It provides the sequence of </a:t>
            </a:r>
            <a:r>
              <a:rPr sz="2800" dirty="0">
                <a:solidFill>
                  <a:schemeClr val="tx2"/>
                </a:solidFill>
              </a:rPr>
              <a:t>topics</a:t>
            </a:r>
            <a:r>
              <a:rPr sz="2800" dirty="0"/>
              <a:t>, </a:t>
            </a:r>
            <a:r>
              <a:rPr sz="2800" dirty="0">
                <a:solidFill>
                  <a:schemeClr val="tx2"/>
                </a:solidFill>
              </a:rPr>
              <a:t>explanations</a:t>
            </a:r>
            <a:r>
              <a:rPr sz="2800" dirty="0"/>
              <a:t>, </a:t>
            </a:r>
            <a:r>
              <a:rPr sz="2800" dirty="0">
                <a:solidFill>
                  <a:schemeClr val="tx2"/>
                </a:solidFill>
              </a:rPr>
              <a:t>activities</a:t>
            </a:r>
            <a:r>
              <a:rPr sz="2800" dirty="0"/>
              <a:t> and </a:t>
            </a:r>
            <a:r>
              <a:rPr sz="2800" dirty="0">
                <a:solidFill>
                  <a:schemeClr val="tx2"/>
                </a:solidFill>
              </a:rPr>
              <a:t>opportunities</a:t>
            </a:r>
            <a:r>
              <a:rPr sz="2800" dirty="0"/>
              <a:t> to apply computing skills.</a:t>
            </a:r>
          </a:p>
          <a:p>
            <a:pPr>
              <a:spcAft>
                <a:spcPts val="1200"/>
              </a:spcAft>
              <a:defRPr sz="1900">
                <a:solidFill>
                  <a:srgbClr val="23232D"/>
                </a:solidFill>
              </a:defRPr>
            </a:pPr>
            <a:r>
              <a:rPr sz="2800" dirty="0"/>
              <a:t>• The book is organized into </a:t>
            </a:r>
            <a:r>
              <a:rPr lang="en-US" sz="2800" dirty="0"/>
              <a:t>6 </a:t>
            </a:r>
            <a:r>
              <a:rPr sz="2800" dirty="0"/>
              <a:t>Units </a:t>
            </a:r>
            <a:r>
              <a:rPr lang="en-US" sz="2800" dirty="0"/>
              <a:t>.</a:t>
            </a:r>
            <a:endParaRPr sz="2800" dirty="0"/>
          </a:p>
        </p:txBody>
      </p:sp>
      <p:sp>
        <p:nvSpPr>
          <p:cNvPr id="7" name="TextBox 6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6E78"/>
                </a:solidFill>
              </a:defRPr>
            </a:pPr>
            <a:r>
              <a:t>2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5D9070F-D2A9-AFD9-3858-8EE4D48CC8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9643" y="436638"/>
            <a:ext cx="3973237" cy="486046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387996" cy="53860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B224A"/>
                </a:solidFill>
              </a:defRPr>
            </a:pPr>
            <a:r>
              <a:rPr dirty="0"/>
              <a:t> How We Will Use the Book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08760"/>
            <a:ext cx="2560320" cy="320040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8CB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59" y="1673351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8CB518"/>
                </a:solidFill>
              </a:defRPr>
            </a:pPr>
            <a:r>
              <a:t>Learn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148839"/>
            <a:ext cx="219456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3232D"/>
                </a:solidFill>
              </a:defRPr>
            </a:pPr>
            <a:r>
              <a:t>Read explanations and learn key computing vocabulary.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0439" y="1508760"/>
            <a:ext cx="2560320" cy="320040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377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703320" y="1673351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774AA"/>
                </a:solidFill>
              </a:defRPr>
            </a:pPr>
            <a:r>
              <a:t>Practise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2148839"/>
            <a:ext cx="219456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3232D"/>
                </a:solidFill>
              </a:defRPr>
            </a:pPr>
            <a:r>
              <a:t>Complete class activities and apply concepts.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508760"/>
            <a:ext cx="2560320" cy="320040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B82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0" y="1673351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B82A67"/>
                </a:solidFill>
              </a:defRPr>
            </a:pPr>
            <a:r>
              <a:t>Create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148839"/>
            <a:ext cx="219456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3232D"/>
                </a:solidFill>
              </a:defRPr>
            </a:pPr>
            <a:r>
              <a:t>Build programs, models, networks and solutions.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81159" y="1508760"/>
            <a:ext cx="2560320" cy="320040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DC82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464039" y="1673351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C8223"/>
                </a:solidFill>
              </a:defRPr>
            </a:pPr>
            <a:r>
              <a:t>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64039" y="2148839"/>
            <a:ext cx="219456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3232D"/>
                </a:solidFill>
              </a:defRPr>
            </a:pPr>
            <a:r>
              <a:t>Use the glossary, examples and completed work to revise.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07492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3232D"/>
                </a:solidFill>
              </a:defRPr>
            </a:pPr>
            <a:r>
              <a:t>• Teacher slides and demonstrations will support the book—not replace it.</a:t>
            </a:r>
          </a:p>
          <a:p>
            <a:pPr>
              <a:spcAft>
                <a:spcPts val="1200"/>
              </a:spcAft>
              <a:defRPr sz="1600">
                <a:solidFill>
                  <a:srgbClr val="23232D"/>
                </a:solidFill>
              </a:defRPr>
            </a:pPr>
            <a:r>
              <a:t>• Your classwork, practical work and assessments will all contribute to your progress.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6E78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3030445" cy="53860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B224A"/>
                </a:solidFill>
              </a:defRPr>
            </a:pPr>
            <a:r>
              <a:rPr dirty="0"/>
              <a:t>Syllabus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406393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96E78"/>
                </a:solidFill>
              </a:defRPr>
            </a:pPr>
            <a:r>
              <a:rPr dirty="0"/>
              <a:t>The Grade </a:t>
            </a:r>
            <a:r>
              <a:rPr lang="en-US" dirty="0"/>
              <a:t>11</a:t>
            </a:r>
            <a:r>
              <a:rPr dirty="0"/>
              <a:t> book is organized into six main units.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166360" cy="1143000"/>
          </a:xfrm>
          <a:prstGeom prst="roundRect">
            <a:avLst/>
          </a:prstGeom>
          <a:solidFill>
            <a:srgbClr val="F5F7FA"/>
          </a:solidFill>
          <a:ln>
            <a:solidFill>
              <a:srgbClr val="8CB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322524" cy="3847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8CB518"/>
                </a:solidFill>
              </a:defRPr>
            </a:pPr>
            <a:r>
              <a:rPr dirty="0"/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39" y="1490472"/>
            <a:ext cx="36343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3232D"/>
                </a:solidFill>
              </a:defRPr>
            </a:pPr>
            <a:r>
              <a:rPr lang="en-US" sz="2000" b="1" dirty="0"/>
              <a:t>Systems Architecture Basics</a:t>
            </a:r>
            <a:endParaRPr sz="2000" dirty="0"/>
          </a:p>
        </p:txBody>
      </p:sp>
      <p:sp>
        <p:nvSpPr>
          <p:cNvPr id="8" name="Rounded Rectangle 7"/>
          <p:cNvSpPr/>
          <p:nvPr/>
        </p:nvSpPr>
        <p:spPr>
          <a:xfrm>
            <a:off x="6355080" y="1325880"/>
            <a:ext cx="5166360" cy="1143000"/>
          </a:xfrm>
          <a:prstGeom prst="roundRect">
            <a:avLst/>
          </a:prstGeom>
          <a:solidFill>
            <a:srgbClr val="F5F7FA"/>
          </a:solidFill>
          <a:ln>
            <a:solidFill>
              <a:srgbClr val="377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37960" y="1508760"/>
            <a:ext cx="322524" cy="3847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3774AA"/>
                </a:solidFill>
              </a:defRPr>
            </a:pPr>
            <a:r>
              <a:rPr dirty="0"/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1490472"/>
            <a:ext cx="249780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3232D"/>
                </a:solidFill>
              </a:defRPr>
            </a:pPr>
            <a:r>
              <a:rPr lang="en-US" sz="2000" b="1" dirty="0"/>
              <a:t>Data and Information</a:t>
            </a:r>
            <a:endParaRPr sz="2000" dirty="0"/>
          </a:p>
        </p:txBody>
      </p:sp>
      <p:sp>
        <p:nvSpPr>
          <p:cNvPr id="11" name="Rounded Rectangle 10"/>
          <p:cNvSpPr/>
          <p:nvPr/>
        </p:nvSpPr>
        <p:spPr>
          <a:xfrm>
            <a:off x="731520" y="2834639"/>
            <a:ext cx="5166360" cy="1143000"/>
          </a:xfrm>
          <a:prstGeom prst="roundRect">
            <a:avLst/>
          </a:prstGeom>
          <a:solidFill>
            <a:srgbClr val="F5F7FA"/>
          </a:solidFill>
          <a:ln>
            <a:solidFill>
              <a:srgbClr val="DC82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3017520"/>
            <a:ext cx="322524" cy="3847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DC8223"/>
                </a:solidFill>
              </a:defRPr>
            </a:pPr>
            <a:r>
              <a:rPr dirty="0"/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2999232"/>
            <a:ext cx="2980496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3232D"/>
                </a:solidFill>
              </a:defRPr>
            </a:pPr>
            <a:r>
              <a:rPr lang="en-US" sz="2000" b="1" dirty="0"/>
              <a:t>Data Structures in Python</a:t>
            </a:r>
            <a:endParaRPr sz="2000" dirty="0"/>
          </a:p>
        </p:txBody>
      </p:sp>
      <p:sp>
        <p:nvSpPr>
          <p:cNvPr id="14" name="Rounded Rectangle 13"/>
          <p:cNvSpPr/>
          <p:nvPr/>
        </p:nvSpPr>
        <p:spPr>
          <a:xfrm>
            <a:off x="6355080" y="2834639"/>
            <a:ext cx="5166360" cy="1143000"/>
          </a:xfrm>
          <a:prstGeom prst="roundRect">
            <a:avLst/>
          </a:prstGeom>
          <a:solidFill>
            <a:srgbClr val="F5F7FA"/>
          </a:solidFill>
          <a:ln>
            <a:solidFill>
              <a:srgbClr val="377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37960" y="3017520"/>
            <a:ext cx="322524" cy="3847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3774AA"/>
                </a:solidFill>
              </a:defRPr>
            </a:pPr>
            <a:r>
              <a:rPr dirty="0"/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2999232"/>
            <a:ext cx="381328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3232D"/>
                </a:solidFill>
              </a:defRPr>
            </a:pPr>
            <a:r>
              <a:rPr lang="en-US" sz="2000" b="1" dirty="0"/>
              <a:t>Developing Mobile Applications II</a:t>
            </a:r>
            <a:endParaRPr sz="2000" dirty="0"/>
          </a:p>
        </p:txBody>
      </p:sp>
      <p:sp>
        <p:nvSpPr>
          <p:cNvPr id="17" name="Rounded Rectangle 16"/>
          <p:cNvSpPr/>
          <p:nvPr/>
        </p:nvSpPr>
        <p:spPr>
          <a:xfrm>
            <a:off x="731520" y="4343400"/>
            <a:ext cx="5166360" cy="1143000"/>
          </a:xfrm>
          <a:prstGeom prst="roundRect">
            <a:avLst/>
          </a:prstGeom>
          <a:solidFill>
            <a:srgbClr val="F5F7FA"/>
          </a:solidFill>
          <a:ln>
            <a:solidFill>
              <a:srgbClr val="B82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4526280"/>
            <a:ext cx="322524" cy="3847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B82A67"/>
                </a:solidFill>
              </a:defRPr>
            </a:pPr>
            <a:r>
              <a:rPr dirty="0"/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4507992"/>
            <a:ext cx="31304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3232D"/>
                </a:solidFill>
              </a:defRPr>
            </a:pPr>
            <a:r>
              <a:rPr lang="en-US" sz="2000" b="1" dirty="0"/>
              <a:t>Advanced Imaging</a:t>
            </a:r>
            <a:endParaRPr sz="2000" dirty="0"/>
          </a:p>
        </p:txBody>
      </p:sp>
      <p:sp>
        <p:nvSpPr>
          <p:cNvPr id="20" name="Rounded Rectangle 19"/>
          <p:cNvSpPr/>
          <p:nvPr/>
        </p:nvSpPr>
        <p:spPr>
          <a:xfrm>
            <a:off x="6355080" y="4343400"/>
            <a:ext cx="5166360" cy="1143000"/>
          </a:xfrm>
          <a:prstGeom prst="roundRect">
            <a:avLst/>
          </a:prstGeom>
          <a:solidFill>
            <a:srgbClr val="F5F7FA"/>
          </a:solidFill>
          <a:ln>
            <a:solidFill>
              <a:srgbClr val="B030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37960" y="4526280"/>
            <a:ext cx="322524" cy="3847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B0303F"/>
                </a:solidFill>
              </a:defRPr>
            </a:pPr>
            <a:r>
              <a:rPr dirty="0"/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4507992"/>
            <a:ext cx="257795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3232D"/>
                </a:solidFill>
              </a:defRPr>
            </a:pPr>
            <a:r>
              <a:rPr lang="en-US" sz="2000" b="1" dirty="0"/>
              <a:t>Advanced Multimedia</a:t>
            </a:r>
            <a:endParaRPr sz="2000" dirty="0"/>
          </a:p>
        </p:txBody>
      </p:sp>
      <p:sp>
        <p:nvSpPr>
          <p:cNvPr id="23" name="TextBox 22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6E78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132566-62F3-6AA6-2E2C-BB4DF3435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6C56FAB-72F5-D7C8-05F1-57FB520DCA8B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AE638A-3469-DCF6-ABB0-E6CB952D9AB2}"/>
              </a:ext>
            </a:extLst>
          </p:cNvPr>
          <p:cNvSpPr txBox="1"/>
          <p:nvPr/>
        </p:nvSpPr>
        <p:spPr>
          <a:xfrm>
            <a:off x="594360" y="320040"/>
            <a:ext cx="3818481" cy="53860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B224A"/>
                </a:solidFill>
              </a:defRPr>
            </a:pPr>
            <a:r>
              <a:rPr lang="en-US" dirty="0"/>
              <a:t>Book Table of Contents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96BC90-2E75-56E4-A1D7-32EDB02F1C3D}"/>
              </a:ext>
            </a:extLst>
          </p:cNvPr>
          <p:cNvSpPr txBox="1"/>
          <p:nvPr/>
        </p:nvSpPr>
        <p:spPr>
          <a:xfrm>
            <a:off x="621792" y="793601"/>
            <a:ext cx="406393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96E78"/>
                </a:solidFill>
              </a:defRPr>
            </a:pPr>
            <a:r>
              <a:rPr dirty="0"/>
              <a:t>The Grade </a:t>
            </a:r>
            <a:r>
              <a:rPr lang="en-US" dirty="0"/>
              <a:t>11</a:t>
            </a:r>
            <a:r>
              <a:rPr dirty="0"/>
              <a:t> book is organized into six main units.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3410CD4C-3E4B-7B13-A1B2-8CE1924535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178689"/>
            <a:ext cx="4930529" cy="5359271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30530F10-099A-AA7D-C2B7-AC8B43602E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47" y="1178689"/>
            <a:ext cx="4892468" cy="5193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8376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3681329" cy="53860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B224A"/>
                </a:solidFill>
              </a:defRPr>
            </a:pPr>
            <a:r>
              <a:rPr dirty="0"/>
              <a:t>Skills You Will Develop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5349240" cy="132588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8CB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59" y="1490472"/>
            <a:ext cx="352692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8CB518"/>
                </a:solidFill>
              </a:defRPr>
            </a:pPr>
            <a:r>
              <a:rPr lang="en-US" b="1" dirty="0"/>
              <a:t>Computer Systems &amp; Architecture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822959" y="1965960"/>
            <a:ext cx="4983479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3232D"/>
                </a:solidFill>
              </a:defRPr>
            </a:pPr>
            <a:r>
              <a:rPr lang="en-US" sz="1350" dirty="0"/>
              <a:t>Understand computer components, storage, memory, processes, file systems, and access control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6355080" y="1325880"/>
            <a:ext cx="5349240" cy="132588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377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37960" y="1490472"/>
            <a:ext cx="204094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774AA"/>
                </a:solidFill>
              </a:defRPr>
            </a:pPr>
            <a:r>
              <a:rPr lang="en-US" b="1" dirty="0"/>
              <a:t>Data &amp; Information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6537960" y="1965960"/>
            <a:ext cx="4983479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3232D"/>
                </a:solidFill>
              </a:defRPr>
            </a:pPr>
            <a:r>
              <a:rPr lang="en-US" sz="1350" dirty="0"/>
              <a:t>Distinguish between data, information, and knowledge; collect, encode, validate, and interpret data</a:t>
            </a: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640080" y="2926080"/>
            <a:ext cx="5349240" cy="132588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B82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59" y="3090672"/>
            <a:ext cx="406200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B82A67"/>
                </a:solidFill>
              </a:defRPr>
            </a:pPr>
            <a:r>
              <a:rPr lang="en-US" b="1" dirty="0"/>
              <a:t>Python Programming &amp; Data Structures</a:t>
            </a: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822959" y="3566160"/>
            <a:ext cx="4983479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3232D"/>
                </a:solidFill>
              </a:defRPr>
            </a:pPr>
            <a:r>
              <a:rPr lang="en-US" sz="1350" dirty="0"/>
              <a:t>Write Python programs that store, retrieve, organize, and manipulate data using appropriate structures</a:t>
            </a:r>
            <a:endParaRPr dirty="0"/>
          </a:p>
        </p:txBody>
      </p:sp>
      <p:sp>
        <p:nvSpPr>
          <p:cNvPr id="13" name="Rounded Rectangle 12"/>
          <p:cNvSpPr/>
          <p:nvPr/>
        </p:nvSpPr>
        <p:spPr>
          <a:xfrm>
            <a:off x="6355080" y="2926080"/>
            <a:ext cx="5349240" cy="132588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DC82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37960" y="3090672"/>
            <a:ext cx="338176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C8223"/>
                </a:solidFill>
              </a:defRPr>
            </a:pPr>
            <a:r>
              <a:rPr lang="en-US" b="1" dirty="0"/>
              <a:t>Mobile Application Development</a:t>
            </a:r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6537960" y="3566160"/>
            <a:ext cx="4983479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3232D"/>
                </a:solidFill>
              </a:defRPr>
            </a:pPr>
            <a:r>
              <a:rPr lang="en-US" sz="1350" dirty="0"/>
              <a:t>Design prototypes, develop applications, add multilingual support, use real-time data, and improve accessibility</a:t>
            </a:r>
            <a:endParaRPr dirty="0"/>
          </a:p>
        </p:txBody>
      </p:sp>
      <p:sp>
        <p:nvSpPr>
          <p:cNvPr id="16" name="Rounded Rectangle 15"/>
          <p:cNvSpPr/>
          <p:nvPr/>
        </p:nvSpPr>
        <p:spPr>
          <a:xfrm>
            <a:off x="640080" y="4526280"/>
            <a:ext cx="5349240" cy="132588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B030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59" y="4690872"/>
            <a:ext cx="165282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B0303F"/>
                </a:solidFill>
              </a:defRPr>
            </a:pPr>
            <a:r>
              <a:rPr lang="en-US" b="1" dirty="0"/>
              <a:t>Digital Imaging</a:t>
            </a:r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822959" y="5166360"/>
            <a:ext cx="4983479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3232D"/>
                </a:solidFill>
              </a:defRPr>
            </a:pPr>
            <a:r>
              <a:rPr lang="en-US" sz="1350" dirty="0"/>
              <a:t>Work with images, layers, adjustments, retouching, enhancement, and 2D animation</a:t>
            </a:r>
            <a:endParaRPr dirty="0"/>
          </a:p>
        </p:txBody>
      </p:sp>
      <p:sp>
        <p:nvSpPr>
          <p:cNvPr id="19" name="Rounded Rectangle 18"/>
          <p:cNvSpPr/>
          <p:nvPr/>
        </p:nvSpPr>
        <p:spPr>
          <a:xfrm>
            <a:off x="6355080" y="4526280"/>
            <a:ext cx="5349240" cy="132588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377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37960" y="4690872"/>
            <a:ext cx="242887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774AA"/>
                </a:solidFill>
              </a:defRPr>
            </a:pPr>
            <a:r>
              <a:rPr lang="en-US" b="1" dirty="0"/>
              <a:t>Multimedia Production</a:t>
            </a:r>
            <a:endParaRPr dirty="0"/>
          </a:p>
        </p:txBody>
      </p:sp>
      <p:sp>
        <p:nvSpPr>
          <p:cNvPr id="21" name="TextBox 20"/>
          <p:cNvSpPr txBox="1"/>
          <p:nvPr/>
        </p:nvSpPr>
        <p:spPr>
          <a:xfrm>
            <a:off x="6537960" y="5166360"/>
            <a:ext cx="4983479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3232D"/>
                </a:solidFill>
              </a:defRPr>
            </a:pPr>
            <a:r>
              <a:rPr lang="en-US" sz="1350" dirty="0"/>
              <a:t>Plan, shoot, edit, enhance, and finalize video projects</a:t>
            </a:r>
            <a:endParaRPr dirty="0"/>
          </a:p>
        </p:txBody>
      </p:sp>
      <p:sp>
        <p:nvSpPr>
          <p:cNvPr id="22" name="TextBox 21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6E78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266955" cy="53860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B224A"/>
                </a:solidFill>
              </a:defRPr>
            </a:pPr>
            <a:r>
              <a:rPr dirty="0"/>
              <a:t>Classroom Rules &amp; Expectations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789920" cy="430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32D"/>
                </a:solidFill>
              </a:defRPr>
            </a:pPr>
            <a:r>
              <a:rPr sz="3200" dirty="0"/>
              <a:t>• </a:t>
            </a:r>
            <a:r>
              <a:rPr lang="en-US" sz="3200" dirty="0"/>
              <a:t>Be</a:t>
            </a:r>
            <a:r>
              <a:rPr sz="3200" dirty="0"/>
              <a:t> </a:t>
            </a:r>
            <a:r>
              <a:rPr sz="3200" b="1" dirty="0">
                <a:solidFill>
                  <a:schemeClr val="accent6">
                    <a:lumMod val="75000"/>
                  </a:schemeClr>
                </a:solidFill>
              </a:rPr>
              <a:t>on time</a:t>
            </a:r>
            <a:r>
              <a:rPr lang="en-US" sz="3200" dirty="0"/>
              <a:t>, p</a:t>
            </a:r>
            <a:r>
              <a:rPr sz="3200" dirty="0"/>
              <a:t>repared and ready to learn.</a:t>
            </a:r>
            <a:endParaRPr lang="en-US" sz="3200" dirty="0"/>
          </a:p>
          <a:p>
            <a:pPr>
              <a:spcAft>
                <a:spcPts val="1200"/>
              </a:spcAft>
              <a:defRPr sz="1900">
                <a:solidFill>
                  <a:srgbClr val="23232D"/>
                </a:solidFill>
              </a:defRPr>
            </a:pPr>
            <a:r>
              <a:rPr sz="3200" dirty="0"/>
              <a:t>• </a:t>
            </a:r>
            <a:r>
              <a:rPr sz="3200" b="1" dirty="0">
                <a:solidFill>
                  <a:schemeClr val="accent6">
                    <a:lumMod val="75000"/>
                  </a:schemeClr>
                </a:solidFill>
              </a:rPr>
              <a:t>Listen</a:t>
            </a:r>
            <a:r>
              <a:rPr sz="3200" dirty="0"/>
              <a:t> when instructions or demonstrations are being given.</a:t>
            </a:r>
          </a:p>
          <a:p>
            <a:pPr>
              <a:spcAft>
                <a:spcPts val="1200"/>
              </a:spcAft>
              <a:defRPr sz="1900">
                <a:solidFill>
                  <a:srgbClr val="23232D"/>
                </a:solidFill>
              </a:defRPr>
            </a:pPr>
            <a:r>
              <a:rPr sz="3200" dirty="0"/>
              <a:t>• </a:t>
            </a:r>
            <a:r>
              <a:rPr sz="3200" b="1" dirty="0">
                <a:solidFill>
                  <a:schemeClr val="accent6">
                    <a:lumMod val="75000"/>
                  </a:schemeClr>
                </a:solidFill>
              </a:rPr>
              <a:t>Ask questions </a:t>
            </a:r>
            <a:r>
              <a:rPr sz="3200" dirty="0"/>
              <a:t>respectfully and contribute to discussions.</a:t>
            </a:r>
          </a:p>
          <a:p>
            <a:pPr>
              <a:spcAft>
                <a:spcPts val="1200"/>
              </a:spcAft>
              <a:defRPr sz="1900">
                <a:solidFill>
                  <a:srgbClr val="23232D"/>
                </a:solidFill>
              </a:defRPr>
            </a:pPr>
            <a:r>
              <a:rPr sz="3200" dirty="0"/>
              <a:t>• Complete your own work honestly; give credit when you use someone else's ideas.</a:t>
            </a:r>
          </a:p>
          <a:p>
            <a:pPr>
              <a:spcAft>
                <a:spcPts val="1200"/>
              </a:spcAft>
              <a:defRPr sz="1900">
                <a:solidFill>
                  <a:srgbClr val="23232D"/>
                </a:solidFill>
              </a:defRPr>
            </a:pPr>
            <a:r>
              <a:rPr sz="3200" dirty="0"/>
              <a:t>• Keep your </a:t>
            </a:r>
            <a:r>
              <a:rPr lang="en-US" sz="3200" dirty="0"/>
              <a:t>class clean and</a:t>
            </a:r>
            <a:r>
              <a:rPr sz="3200" dirty="0"/>
              <a:t> organized </a:t>
            </a:r>
            <a:r>
              <a:rPr lang="en-US" sz="3200" dirty="0"/>
              <a:t>.</a:t>
            </a:r>
            <a:endParaRPr sz="3200" dirty="0"/>
          </a:p>
          <a:p>
            <a:pPr>
              <a:spcAft>
                <a:spcPts val="1200"/>
              </a:spcAft>
              <a:defRPr sz="1900">
                <a:solidFill>
                  <a:srgbClr val="23232D"/>
                </a:solidFill>
              </a:defRPr>
            </a:pPr>
            <a:r>
              <a:rPr sz="3200" dirty="0"/>
              <a:t>• Use devices only for the task set by the teacher.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6E78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3402663" cy="53860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B224A"/>
                </a:solidFill>
              </a:defRPr>
            </a:pPr>
            <a:r>
              <a:rPr dirty="0"/>
              <a:t>Computer Lab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15600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32D"/>
                </a:solidFill>
              </a:defRPr>
            </a:pPr>
            <a:r>
              <a:rPr sz="2800" dirty="0"/>
              <a:t>• Handle </a:t>
            </a:r>
            <a:r>
              <a:rPr sz="2800" b="1" dirty="0">
                <a:solidFill>
                  <a:schemeClr val="accent6">
                    <a:lumMod val="75000"/>
                  </a:schemeClr>
                </a:solidFill>
              </a:rPr>
              <a:t>computers</a:t>
            </a:r>
            <a:r>
              <a:rPr sz="2800" dirty="0"/>
              <a:t>, </a:t>
            </a:r>
            <a:r>
              <a:rPr sz="2800" b="1" dirty="0">
                <a:solidFill>
                  <a:schemeClr val="accent6">
                    <a:lumMod val="75000"/>
                  </a:schemeClr>
                </a:solidFill>
              </a:rPr>
              <a:t>keyboards</a:t>
            </a:r>
            <a:r>
              <a:rPr sz="2800" dirty="0"/>
              <a:t>, </a:t>
            </a:r>
            <a:r>
              <a:rPr sz="2800" b="1" dirty="0">
                <a:solidFill>
                  <a:schemeClr val="accent6">
                    <a:lumMod val="75000"/>
                  </a:schemeClr>
                </a:solidFill>
              </a:rPr>
              <a:t>mice</a:t>
            </a:r>
            <a:r>
              <a:rPr sz="2800" dirty="0"/>
              <a:t> and other equipment carefully.</a:t>
            </a:r>
          </a:p>
          <a:p>
            <a:pPr>
              <a:spcAft>
                <a:spcPts val="1200"/>
              </a:spcAft>
              <a:defRPr sz="1800">
                <a:solidFill>
                  <a:srgbClr val="23232D"/>
                </a:solidFill>
              </a:defRPr>
            </a:pPr>
            <a:r>
              <a:rPr sz="2800" dirty="0"/>
              <a:t>• Do not change cables, settings or equipment unless the teacher tells you to.</a:t>
            </a:r>
          </a:p>
          <a:p>
            <a:pPr>
              <a:spcAft>
                <a:spcPts val="1200"/>
              </a:spcAft>
              <a:defRPr sz="1800">
                <a:solidFill>
                  <a:srgbClr val="23232D"/>
                </a:solidFill>
              </a:defRPr>
            </a:pPr>
            <a:r>
              <a:rPr sz="2800" dirty="0"/>
              <a:t>• Keep </a:t>
            </a:r>
            <a:r>
              <a:rPr sz="2800" b="1" dirty="0">
                <a:solidFill>
                  <a:schemeClr val="accent6">
                    <a:lumMod val="75000"/>
                  </a:schemeClr>
                </a:solidFill>
              </a:rPr>
              <a:t>food</a:t>
            </a:r>
            <a:r>
              <a:rPr sz="2800" dirty="0"/>
              <a:t> and </a:t>
            </a:r>
            <a:r>
              <a:rPr sz="2800" b="1" dirty="0">
                <a:solidFill>
                  <a:schemeClr val="accent6">
                    <a:lumMod val="75000"/>
                  </a:schemeClr>
                </a:solidFill>
              </a:rPr>
              <a:t>drinks</a:t>
            </a:r>
            <a:r>
              <a:rPr sz="2800" dirty="0"/>
              <a:t> away from computers.</a:t>
            </a:r>
          </a:p>
          <a:p>
            <a:pPr>
              <a:spcAft>
                <a:spcPts val="1200"/>
              </a:spcAft>
              <a:defRPr sz="1800">
                <a:solidFill>
                  <a:srgbClr val="23232D"/>
                </a:solidFill>
              </a:defRPr>
            </a:pPr>
            <a:r>
              <a:rPr sz="2800" dirty="0"/>
              <a:t>• Use only your assigned account and keep passwords private.</a:t>
            </a:r>
          </a:p>
          <a:p>
            <a:pPr>
              <a:spcAft>
                <a:spcPts val="1200"/>
              </a:spcAft>
              <a:defRPr sz="1800">
                <a:solidFill>
                  <a:srgbClr val="23232D"/>
                </a:solidFill>
              </a:defRPr>
            </a:pPr>
            <a:r>
              <a:rPr sz="2800" dirty="0"/>
              <a:t>• Save work in the correct location and </a:t>
            </a:r>
            <a:r>
              <a:rPr sz="2800" b="1" dirty="0">
                <a:solidFill>
                  <a:schemeClr val="accent6">
                    <a:lumMod val="75000"/>
                  </a:schemeClr>
                </a:solidFill>
              </a:rPr>
              <a:t>log out </a:t>
            </a:r>
            <a:r>
              <a:rPr sz="2800" dirty="0"/>
              <a:t>when instructed.</a:t>
            </a:r>
          </a:p>
          <a:p>
            <a:pPr>
              <a:spcAft>
                <a:spcPts val="1200"/>
              </a:spcAft>
              <a:defRPr sz="1800">
                <a:solidFill>
                  <a:srgbClr val="23232D"/>
                </a:solidFill>
              </a:defRPr>
            </a:pPr>
            <a:r>
              <a:rPr sz="2800" dirty="0"/>
              <a:t>• Report damaged equipment, suspicious pop-ups or technical problems immediately.</a:t>
            </a:r>
          </a:p>
          <a:p>
            <a:pPr>
              <a:spcAft>
                <a:spcPts val="1200"/>
              </a:spcAft>
              <a:defRPr sz="1800">
                <a:solidFill>
                  <a:srgbClr val="23232D"/>
                </a:solidFill>
              </a:defRPr>
            </a:pPr>
            <a:r>
              <a:rPr sz="2800" dirty="0"/>
              <a:t>• Leave the workstation tidy before you leave.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6E78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270464" cy="53860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B224A"/>
                </a:solidFill>
              </a:defRPr>
            </a:pPr>
            <a:r>
              <a:rPr dirty="0"/>
              <a:t>E-Safety: Stay Safe Online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5440680" cy="1353312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8CB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399032"/>
            <a:ext cx="5074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8CB518"/>
                </a:solidFill>
              </a:defRPr>
            </a:pPr>
            <a:r>
              <a:t>Protect personal information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50749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3232D"/>
                </a:solidFill>
              </a:defRPr>
            </a:pPr>
            <a:r>
              <a:t>Do not share passwords, addresses, phone numbers or other private information.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234440"/>
            <a:ext cx="5440680" cy="1353312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377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37960" y="1399032"/>
            <a:ext cx="5074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774AA"/>
                </a:solidFill>
              </a:defRPr>
            </a:pPr>
            <a:r>
              <a:t>Use strong passwords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1874519"/>
            <a:ext cx="50749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3232D"/>
                </a:solidFill>
              </a:defRPr>
            </a:pPr>
            <a:r>
              <a:t>Create passwords that are difficult for others to guess and never share them.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862072"/>
            <a:ext cx="5440680" cy="1353312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DC82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3026664"/>
            <a:ext cx="5074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C8223"/>
                </a:solidFill>
              </a:defRPr>
            </a:pPr>
            <a:r>
              <a:t>Think before you click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502152"/>
            <a:ext cx="50749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3232D"/>
                </a:solidFill>
              </a:defRPr>
            </a:pPr>
            <a:r>
              <a:t>Be careful with links, attachments, downloads and unfamiliar websites.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2862072"/>
            <a:ext cx="5440680" cy="1353312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B82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37960" y="3026664"/>
            <a:ext cx="5074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B82A67"/>
                </a:solidFill>
              </a:defRPr>
            </a:pPr>
            <a:r>
              <a:t>Be respectful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3502152"/>
            <a:ext cx="50749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3232D"/>
                </a:solidFill>
              </a:defRPr>
            </a:pPr>
            <a:r>
              <a:t>Communicate politely; do not bully, threaten or embarrass others online.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4489704"/>
            <a:ext cx="5440680" cy="1353312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B030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4654296"/>
            <a:ext cx="5074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B0303F"/>
                </a:solidFill>
              </a:defRPr>
            </a:pPr>
            <a:r>
              <a:t>Check information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129784"/>
            <a:ext cx="50749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3232D"/>
                </a:solidFill>
              </a:defRPr>
            </a:pPr>
            <a:r>
              <a:t>Question suspicious messages and consider whether online information is reliable.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4489704"/>
            <a:ext cx="5440680" cy="1353312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377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37960" y="4654296"/>
            <a:ext cx="5074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774AA"/>
                </a:solidFill>
              </a:defRPr>
            </a:pPr>
            <a:r>
              <a:t>Tell a trusted adult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5129784"/>
            <a:ext cx="50749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3232D"/>
                </a:solidFill>
              </a:defRPr>
            </a:pPr>
            <a:r>
              <a:t>If something online makes you uncomfortable or seems unsafe, report it to a trusted adult.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6E78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3611053" cy="53860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B224A"/>
                </a:solidFill>
              </a:defRPr>
            </a:pPr>
            <a:r>
              <a:rPr dirty="0"/>
              <a:t>Course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42416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32D"/>
                </a:solidFill>
              </a:defRPr>
            </a:pPr>
            <a:r>
              <a:rPr sz="2800" dirty="0"/>
              <a:t>• Complete </a:t>
            </a:r>
            <a:r>
              <a:rPr sz="2800" b="1" dirty="0">
                <a:solidFill>
                  <a:schemeClr val="accent6">
                    <a:lumMod val="75000"/>
                  </a:schemeClr>
                </a:solidFill>
              </a:rPr>
              <a:t>class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work</a:t>
            </a:r>
            <a:r>
              <a:rPr sz="2800" b="1" dirty="0">
                <a:solidFill>
                  <a:schemeClr val="accent6">
                    <a:lumMod val="75000"/>
                  </a:schemeClr>
                </a:solidFill>
              </a:rPr>
              <a:t> activities </a:t>
            </a:r>
            <a:r>
              <a:rPr sz="2800" dirty="0"/>
              <a:t>and </a:t>
            </a:r>
            <a:r>
              <a:rPr sz="2800" b="1" dirty="0">
                <a:solidFill>
                  <a:schemeClr val="accent6">
                    <a:lumMod val="75000"/>
                  </a:schemeClr>
                </a:solidFill>
              </a:rPr>
              <a:t>practical tasks </a:t>
            </a:r>
            <a:r>
              <a:rPr sz="2800" dirty="0"/>
              <a:t>carefully and on time.</a:t>
            </a:r>
          </a:p>
          <a:p>
            <a:pPr>
              <a:spcAft>
                <a:spcPts val="1200"/>
              </a:spcAft>
              <a:defRPr sz="1900">
                <a:solidFill>
                  <a:srgbClr val="23232D"/>
                </a:solidFill>
              </a:defRPr>
            </a:pPr>
            <a:r>
              <a:rPr sz="2800" dirty="0"/>
              <a:t>• </a:t>
            </a:r>
            <a:r>
              <a:rPr lang="en-US" sz="2800" dirty="0"/>
              <a:t>Complete </a:t>
            </a:r>
            <a:r>
              <a:rPr lang="en-US" sz="2800" b="1" u="sng" dirty="0">
                <a:solidFill>
                  <a:schemeClr val="accent6">
                    <a:lumMod val="75000"/>
                  </a:schemeClr>
                </a:solidFill>
              </a:rPr>
              <a:t>Weekly Homework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2800" dirty="0"/>
              <a:t>on time. </a:t>
            </a:r>
            <a:endParaRPr sz="2800" dirty="0"/>
          </a:p>
          <a:p>
            <a:pPr>
              <a:spcAft>
                <a:spcPts val="1200"/>
              </a:spcAft>
              <a:defRPr sz="1900">
                <a:solidFill>
                  <a:srgbClr val="23232D"/>
                </a:solidFill>
              </a:defRPr>
            </a:pPr>
            <a:r>
              <a:rPr sz="2800" dirty="0"/>
              <a:t>• Prepare for quizzes, practical assessments and other teacher-set assessments.</a:t>
            </a:r>
          </a:p>
          <a:p>
            <a:pPr>
              <a:spcAft>
                <a:spcPts val="1200"/>
              </a:spcAft>
              <a:defRPr sz="1900">
                <a:solidFill>
                  <a:srgbClr val="23232D"/>
                </a:solidFill>
              </a:defRPr>
            </a:pPr>
            <a:r>
              <a:rPr sz="2800" dirty="0"/>
              <a:t>• If you miss a lesson, find out what was covered and complete the required work.</a:t>
            </a:r>
          </a:p>
          <a:p>
            <a:pPr>
              <a:spcAft>
                <a:spcPts val="1200"/>
              </a:spcAft>
              <a:defRPr sz="1900">
                <a:solidFill>
                  <a:srgbClr val="23232D"/>
                </a:solidFill>
              </a:defRPr>
            </a:pPr>
            <a:r>
              <a:rPr sz="2800" dirty="0"/>
              <a:t>• Ask for help early when you are stuck.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6E78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6014147" cy="53860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B224A"/>
                </a:solidFill>
              </a:defRPr>
            </a:pPr>
            <a:r>
              <a:rPr dirty="0"/>
              <a:t>How to Be Successful in Computing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149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3232D"/>
                </a:solidFill>
              </a:defRPr>
            </a:pPr>
            <a:r>
              <a:t>• Be curious — ask “Why?” and “How?”</a:t>
            </a:r>
          </a:p>
          <a:p>
            <a:pPr>
              <a:spcAft>
                <a:spcPts val="1200"/>
              </a:spcAft>
              <a:defRPr sz="2100">
                <a:solidFill>
                  <a:srgbClr val="23232D"/>
                </a:solidFill>
              </a:defRPr>
            </a:pPr>
            <a:r>
              <a:t>• Practise — computing skills improve through doing.</a:t>
            </a:r>
          </a:p>
          <a:p>
            <a:pPr>
              <a:spcAft>
                <a:spcPts val="1200"/>
              </a:spcAft>
              <a:defRPr sz="2100">
                <a:solidFill>
                  <a:srgbClr val="23232D"/>
                </a:solidFill>
              </a:defRPr>
            </a:pPr>
            <a:r>
              <a:t>• Debug — errors are part of programming and problem solving.</a:t>
            </a:r>
          </a:p>
          <a:p>
            <a:pPr>
              <a:spcAft>
                <a:spcPts val="1200"/>
              </a:spcAft>
              <a:defRPr sz="2100">
                <a:solidFill>
                  <a:srgbClr val="23232D"/>
                </a:solidFill>
              </a:defRPr>
            </a:pPr>
            <a:r>
              <a:t>• Collaborate appropriately — share ideas, but complete your own work.</a:t>
            </a:r>
          </a:p>
          <a:p>
            <a:pPr>
              <a:spcAft>
                <a:spcPts val="1200"/>
              </a:spcAft>
              <a:defRPr sz="2100">
                <a:solidFill>
                  <a:srgbClr val="23232D"/>
                </a:solidFill>
              </a:defRPr>
            </a:pPr>
            <a:r>
              <a:t>• Review regularly — small amounts of revision are better than last-minute cramming.</a:t>
            </a:r>
          </a:p>
          <a:p>
            <a:pPr>
              <a:spcAft>
                <a:spcPts val="1200"/>
              </a:spcAft>
              <a:defRPr sz="2100">
                <a:solidFill>
                  <a:srgbClr val="23232D"/>
                </a:solidFill>
              </a:defRPr>
            </a:pPr>
            <a:r>
              <a:t>• Be responsible — use technology safely, respectfully and purposefully.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5532120"/>
            <a:ext cx="8503920" cy="640080"/>
          </a:xfrm>
          <a:prstGeom prst="roundRect">
            <a:avLst/>
          </a:prstGeom>
          <a:solidFill>
            <a:srgbClr val="8C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011680" y="5650992"/>
            <a:ext cx="8138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The goal: understand technology, not just use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6E78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205849" cy="53860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B224A"/>
                </a:solidFill>
              </a:defRPr>
            </a:pPr>
            <a:r>
              <a:rPr dirty="0"/>
              <a:t>First-Lesson Orientation Activity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429000" cy="356616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8CB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536192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8CB518"/>
                </a:solidFill>
              </a:defRPr>
            </a:pPr>
            <a:r>
              <a:t>Think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306324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3232D"/>
                </a:solidFill>
              </a:defRPr>
            </a:pPr>
            <a:r>
              <a:t>What do you already know about computing?</a:t>
            </a:r>
            <a:br/>
            <a:br/>
            <a:r>
              <a:t>Name one topic you feel confident about and one topic you want to improve.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71600"/>
            <a:ext cx="3429000" cy="356616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377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0" y="1536192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774AA"/>
                </a:solidFill>
              </a:defRPr>
            </a:pPr>
            <a:r>
              <a:t>Explore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011680"/>
            <a:ext cx="306324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3232D"/>
                </a:solidFill>
              </a:defRPr>
            </a:pPr>
            <a:r>
              <a:t>Look through the contents page.</a:t>
            </a:r>
            <a:br/>
            <a:br/>
            <a:r>
              <a:t>Which of the six units sounds most interesting to you? Why?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371600"/>
            <a:ext cx="3429000" cy="356616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B82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0" y="1536192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B82A67"/>
                </a:solidFill>
              </a:defRPr>
            </a:pPr>
            <a:r>
              <a:t>Set a Goal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011680"/>
            <a:ext cx="306324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3232D"/>
                </a:solidFill>
              </a:defRPr>
            </a:pPr>
            <a:r>
              <a:t>Choose one learning goal for this year.</a:t>
            </a:r>
            <a:br/>
            <a:br/>
            <a:r>
              <a:t>Example: “I want to become better at testing and debugging my programs.”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6E78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884211" y="1143000"/>
            <a:ext cx="6393097" cy="7386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rPr dirty="0"/>
              <a:t>Welcome to Computing </a:t>
            </a:r>
            <a:r>
              <a:rPr lang="en-US" dirty="0"/>
              <a:t>11</a:t>
            </a:r>
            <a:r>
              <a:rPr dirty="0"/>
              <a:t>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2514600"/>
            <a:ext cx="960120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600"/>
              </a:spcAft>
              <a:defRPr sz="2400">
                <a:solidFill>
                  <a:srgbClr val="8CB518"/>
                </a:solidFill>
              </a:defRPr>
            </a:pPr>
            <a:r>
              <a:t>Learn • Practise • Create • Test • Improve</a:t>
            </a:r>
          </a:p>
          <a:p>
            <a:pPr algn="ctr">
              <a:spcAft>
                <a:spcPts val="1600"/>
              </a:spcAft>
              <a:defRPr sz="2000">
                <a:solidFill>
                  <a:srgbClr val="FFFFFF"/>
                </a:solidFill>
              </a:defRPr>
            </a:pPr>
            <a:r>
              <a:t>Be safe. Be respectful. Be curious.</a:t>
            </a:r>
          </a:p>
          <a:p>
            <a:pPr algn="ctr">
              <a:spcAft>
                <a:spcPts val="1600"/>
              </a:spcAft>
              <a:defRPr sz="2000">
                <a:solidFill>
                  <a:srgbClr val="FFFFFF"/>
                </a:solidFill>
              </a:defRPr>
            </a:pPr>
            <a:r>
              <a:t>Let’s make this a great year of computing!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6E78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itorial">
  <a:themeElements>
    <a:clrScheme name="Editorial">
      <a:dk1>
        <a:sysClr val="windowText" lastClr="000000"/>
      </a:dk1>
      <a:lt1>
        <a:sysClr val="window" lastClr="FFFFFF"/>
      </a:lt1>
      <a:dk2>
        <a:srgbClr val="171717"/>
      </a:dk2>
      <a:lt2>
        <a:srgbClr val="F7F6F3"/>
      </a:lt2>
      <a:accent1>
        <a:srgbClr val="C8350F"/>
      </a:accent1>
      <a:accent2>
        <a:srgbClr val="B6A992"/>
      </a:accent2>
      <a:accent3>
        <a:srgbClr val="D59A6D"/>
      </a:accent3>
      <a:accent4>
        <a:srgbClr val="C7793D"/>
      </a:accent4>
      <a:accent5>
        <a:srgbClr val="DB8464"/>
      </a:accent5>
      <a:accent6>
        <a:srgbClr val="3F7699"/>
      </a:accent6>
      <a:hlink>
        <a:srgbClr val="C8350F"/>
      </a:hlink>
      <a:folHlink>
        <a:srgbClr val="DB8464"/>
      </a:folHlink>
    </a:clrScheme>
    <a:fontScheme name="Custom 22">
      <a:majorFont>
        <a:latin typeface="Haettenschweiler"/>
        <a:ea typeface=""/>
        <a:cs typeface=""/>
      </a:majorFont>
      <a:minorFont>
        <a:latin typeface="Trade Gothic Nex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Editorial" id="{71EC1670-473B-4381-BA1C-B02CC96DD716}" vid="{C5D3EF77-ADD0-40FD-A769-C339DAE739D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Editorial</Template>
  <TotalTime>612</TotalTime>
  <Words>847</Words>
  <Application>Microsoft Office PowerPoint</Application>
  <PresentationFormat>Widescreen</PresentationFormat>
  <Paragraphs>114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Arial</vt:lpstr>
      <vt:lpstr>Haettenschweiler</vt:lpstr>
      <vt:lpstr>Trade Gothic Next Light</vt:lpstr>
      <vt:lpstr>Editorial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keywords/>
  <dc:description>generated using python-pptx</dc:description>
  <cp:lastModifiedBy>hp</cp:lastModifiedBy>
  <cp:revision>9</cp:revision>
  <dcterms:created xsi:type="dcterms:W3CDTF">2013-01-27T09:14:16Z</dcterms:created>
  <dcterms:modified xsi:type="dcterms:W3CDTF">2026-08-23T20:26:47Z</dcterms:modified>
  <cp:category/>
</cp:coreProperties>
</file>